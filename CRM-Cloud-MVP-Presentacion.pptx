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863840" y="457200"/>
            <a:ext cx="1645920" cy="164592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0058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Cloud MVP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02920" y="22128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Clientes en la Nube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798064"/>
            <a:ext cx="2926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2944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Pontificia Bolivariana  ·  TIC2  ·  Semestre 7  ·  Mayo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251960"/>
            <a:ext cx="2011680" cy="347472"/>
          </a:xfrm>
          <a:prstGeom prst="rect">
            <a:avLst/>
          </a:prstGeom>
          <a:solidFill>
            <a:srgbClr val="1C2B4A"/>
          </a:solidFill>
          <a:ln w="952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02920" y="4251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4251960"/>
            <a:ext cx="2011680" cy="347472"/>
          </a:xfrm>
          <a:prstGeom prst="rect">
            <a:avLst/>
          </a:prstGeom>
          <a:solidFill>
            <a:srgbClr val="1C2B4A"/>
          </a:solidFill>
          <a:ln w="952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51760" y="4251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4251960"/>
            <a:ext cx="2011680" cy="347472"/>
          </a:xfrm>
          <a:prstGeom prst="rect">
            <a:avLst/>
          </a:prstGeom>
          <a:solidFill>
            <a:srgbClr val="1C2B4A"/>
          </a:solidFill>
          <a:ln w="952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00600" y="4251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4251960"/>
            <a:ext cx="2011680" cy="347472"/>
          </a:xfrm>
          <a:prstGeom prst="rect">
            <a:avLst/>
          </a:prstGeom>
          <a:solidFill>
            <a:srgbClr val="1C2B4A"/>
          </a:solidFill>
          <a:ln w="952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49440" y="4251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Render · Supabase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868680"/>
            <a:ext cx="25146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1560" y="1024128"/>
            <a:ext cx="1600200" cy="1600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51560" y="1024128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Integrante 1]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291840"/>
            <a:ext cx="1965960" cy="310896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329184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675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 · Despliegue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29000" y="868680"/>
            <a:ext cx="25146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886200" y="1024128"/>
            <a:ext cx="1600200" cy="1600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886200" y="1024128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Integrante 2]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03320" y="3291840"/>
            <a:ext cx="1965960" cy="310896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703320" y="329184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3675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 · Despliegue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868680"/>
            <a:ext cx="25146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720840" y="1024128"/>
            <a:ext cx="1600200" cy="1600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20840" y="1024128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Integrante 3]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37960" y="3291840"/>
            <a:ext cx="1965960" cy="310896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37960" y="329184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675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 · Despliegue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0" y="4828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UPB — Semestre 7 · TIC2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Trabajo — Lean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60604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86868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0"/>
            <a:ext cx="260604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2487168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sprint entregó funcionalidad real y desplegable. MVPs incrementales desde Sprint 1 a Sprint 6.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17520" y="1508760"/>
            <a:ext cx="27432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017520" y="135331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868680"/>
            <a:ext cx="2606040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86868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167335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2377440"/>
            <a:ext cx="260604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429000" y="2487168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aceptación (60 criterios), auditoría de seguridad (17 issues), casos de prueba documentados por sprint.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97880" y="1508760"/>
            <a:ext cx="27432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897880" y="135331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868680"/>
            <a:ext cx="2606040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172200" y="86868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72200" y="167335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2377440"/>
            <a:ext cx="260604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09360" y="2487168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Retrospectivas al cierre de cada sprint. Bugs documentados y lecciones aprendidas incorporadas al siguiente ciclo.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4736592"/>
            <a:ext cx="8321040" cy="292608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0292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Lean:  Eliminar desperdicios · Entregar valor · Ciclos cortos · Mejora continua · Decisiones basadas en datos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554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Entendimiento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problema y la solución propuesta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33472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Reto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164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Entendimiento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841248"/>
            <a:ext cx="43891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84048" y="841248"/>
            <a:ext cx="43891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84048" y="84124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 de datos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5727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Contactos en Excel, WhatsApp, email y papel — sin visibilidad consolidada.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13055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seguimiento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591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PYMEs no saben cuándo contactar a sus clientes ni cuáles están inactivos.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91693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2871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métricas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1455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saber cuántos clientes activos, prospectos o inactivos tiene el negocio.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70332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inseguro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acceso — cualquier persona puede ver o modificar los registros.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56048" y="841248"/>
            <a:ext cx="3794760" cy="397764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podríamos...?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20640" y="1463040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321808" y="1417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...dar a las PYMEs una vista única de todos sus clientes?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2029968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321808" y="19842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...alertar automáticamente sobre clientes que requieren atención?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2596896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321808" y="25511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...mostrar el crecimiento de clientes en el tiempo?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20640" y="3163824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321808" y="31181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...garantizar que solo el dueño vea sus propios datos?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3730752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321808" y="3685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...lograr todo esto sin servidores propios (cloud-native)?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del Reto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164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Entendimiento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Cloud MVP: plataforma web que centraliza, organiza y visualiza la relación con clientes — 100% en la nube, segura y accesible desde cualquier dispositivo.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389888"/>
            <a:ext cx="411480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84048" y="1389888"/>
            <a:ext cx="41148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84048" y="1389888"/>
            <a:ext cx="320040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95528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 de datos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1865376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centralizada en Supabase (PostgreSQL). Registro único por cliente con nombre, empresa, email, teléfono y estado.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81728" y="1389888"/>
            <a:ext cx="411480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81728" y="1389888"/>
            <a:ext cx="41148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681728" y="1389888"/>
            <a:ext cx="320040" cy="15727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93208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seguimiento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93208" y="1865376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'Requieren atención': muestra automáticamente clientes Inactivos y con más de 10 días sin actividad.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" y="3108960"/>
            <a:ext cx="411480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84048" y="3108960"/>
            <a:ext cx="41148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84048" y="3108960"/>
            <a:ext cx="320040" cy="1572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95528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métricas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95528" y="358444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4 KPIs en tiempo real (Total, Activos, Prospectos, Inactivos) y gráfica de crecimiento de los últimos 6 meses.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81728" y="3108960"/>
            <a:ext cx="411480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A580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681728" y="3108960"/>
            <a:ext cx="411480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681728" y="3108960"/>
            <a:ext cx="320040" cy="15727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093208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inseguro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93208" y="358444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con expiración 24h. Cada usuario solo ve sus propios clientes. Rate limiting en endpoints de auth (5 req/min).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554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Ideación y Definición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OKRs, stack tecnológico y arquitectura del sistema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33472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 — Estado Final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35240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Ideación y Definición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822960"/>
            <a:ext cx="83667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84048" y="822960"/>
            <a:ext cx="83667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0" y="859536"/>
            <a:ext cx="914400" cy="27432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0" y="859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877824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O1: Construir un CRM funcional y desplegado en producción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0352" y="1325880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12435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KR1: Completar los 6 sprints con todas las historias de usuario implementadas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23760" y="1298448"/>
            <a:ext cx="13716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223760" y="1298448"/>
            <a:ext cx="1371600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41080" y="12435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1600200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3232" y="15179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KR2: 60/62 criterios de aceptación pasando (34/36 frontend · 26/26 backend)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23760" y="1572768"/>
            <a:ext cx="13716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23760" y="1572768"/>
            <a:ext cx="1330452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41080" y="1517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1874520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" y="17922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KR3: Sistema desplegado en Vercel + Render + Supabase y accesible en producción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23760" y="1847088"/>
            <a:ext cx="13716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223760" y="1847088"/>
            <a:ext cx="1371600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41080" y="17922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2212848"/>
            <a:ext cx="83667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84048" y="2212848"/>
            <a:ext cx="836676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772400" y="2249424"/>
            <a:ext cx="914400" cy="27432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772400" y="2249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2267712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O2: Garantizar seguridad y calidad del sistema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30352" y="2715768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13232" y="2633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KR1: Auditoría de seguridad completada — 17 issues identificados y resueltos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23760" y="2688336"/>
            <a:ext cx="13716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223760" y="2688336"/>
            <a:ext cx="1371600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641080" y="26334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0352" y="2990088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13232" y="29077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KR2: 0 vulnerabilidades críticas sin resolver en producción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23760" y="2962656"/>
            <a:ext cx="13716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223760" y="2962656"/>
            <a:ext cx="1371600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641080" y="29077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0352" y="3264408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13232" y="31821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KR3: Rate limiting en auth, JWT validation, aislamiento multi-usuario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223760" y="3236976"/>
            <a:ext cx="13716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7223760" y="3236976"/>
            <a:ext cx="1371600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641080" y="3182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" y="3602736"/>
            <a:ext cx="83667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384048" y="3602736"/>
            <a:ext cx="836676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772400" y="3639312"/>
            <a:ext cx="914400" cy="27432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772400" y="3639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3657600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O3: Documentar el proceso de desarrollo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530352" y="4105656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13232" y="4023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KR1: Casos de prueba desde la perspectiva del usuario para los 6 sprints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223760" y="4078224"/>
            <a:ext cx="13716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7223760" y="4078224"/>
            <a:ext cx="1371600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8641080" y="4023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30352" y="4379976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13232" y="4297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KR2: Reporte de bugs y regresiones con 37 issues documentados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223760" y="4352544"/>
            <a:ext cx="13716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223760" y="4352544"/>
            <a:ext cx="1371600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8641080" y="4297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30352" y="4654296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13232" y="45720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KR3: Informe de despliegue con retos técnicos y soluciones aplicadas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223760" y="4626864"/>
            <a:ext cx="13716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7223760" y="4626864"/>
            <a:ext cx="1371600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641080" y="4572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— Arquitectura, Desarrollo y QA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35240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Ideación y Definición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84048" y="804672"/>
            <a:ext cx="1965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84048" y="8046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5216" y="1298448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124358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" y="1792224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17373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Tailwind CSS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" y="2286000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23113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+ Zod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" y="2779776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272491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· React Router DOM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" y="3273552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321868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Testing Library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05456" y="804672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505456" y="804672"/>
            <a:ext cx="19659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505456" y="8046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06624" y="1298448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852928" y="124358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+ TypeScript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06624" y="1792224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852928" y="17373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 + PostgreSQL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06624" y="2286000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852928" y="223113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Passport.js + JWT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06624" y="2779776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852928" y="272491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· Throttler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06624" y="3273552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852928" y="321868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26864" y="804672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626864" y="804672"/>
            <a:ext cx="19659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626864" y="8046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828032" y="1298448"/>
            <a:ext cx="731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974336" y="124358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28032" y="1792224"/>
            <a:ext cx="731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974336" y="17373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Cloud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28032" y="2286000"/>
            <a:ext cx="731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974336" y="223113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Supavisor Pooler :6543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28032" y="2779776"/>
            <a:ext cx="731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974336" y="272491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en producción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28032" y="3273552"/>
            <a:ext cx="731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974336" y="321868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manual SQL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48272" y="804672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748272" y="804672"/>
            <a:ext cx="196596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748272" y="8046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/ Deploy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949440" y="1298448"/>
            <a:ext cx="731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095744" y="124358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949440" y="1792224"/>
            <a:ext cx="731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095744" y="17373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 SPA)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949440" y="2286000"/>
            <a:ext cx="731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095744" y="223113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(Backend Docker)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949440" y="2779776"/>
            <a:ext cx="731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095744" y="272491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auto desde main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949440" y="3273552"/>
            <a:ext cx="731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095744" y="321868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seguras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84048" y="4178808"/>
            <a:ext cx="8366760" cy="80467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02920" y="4178808"/>
            <a:ext cx="777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261872" y="4315968"/>
            <a:ext cx="36576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417320" y="422452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26/26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2075688" y="4224528"/>
            <a:ext cx="713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backend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(Jest + Supertest)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898648" y="422452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34/36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3557016" y="4224528"/>
            <a:ext cx="713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frontend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(Vitest)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379976" y="422452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5038344" y="4224528"/>
            <a:ext cx="713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usuario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861304" y="422452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6519672" y="4224528"/>
            <a:ext cx="713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342632" y="422452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8001000" y="4224528"/>
            <a:ext cx="713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seguridad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554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y Planificación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prototipo y mapeo de historias de usuario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33472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— Prototipo de Pantallas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223760" y="164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y Planificación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841248"/>
            <a:ext cx="157276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47472" y="841248"/>
            <a:ext cx="157276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47472" y="84124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25296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1517904"/>
            <a:ext cx="1353312" cy="16459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810512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103120"/>
            <a:ext cx="1353312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395728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688336"/>
            <a:ext cx="1353312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2980944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47472" y="374904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Portada pública con CTA 'Iniciar sesión' y 'Registrarse'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84832" y="841248"/>
            <a:ext cx="157276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084832" y="841248"/>
            <a:ext cx="1572768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084832" y="84124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4560" y="1225296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194560" y="1517904"/>
            <a:ext cx="1353312" cy="16459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194560" y="1810512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194560" y="2103120"/>
            <a:ext cx="1353312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194560" y="2395728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194560" y="2688336"/>
            <a:ext cx="1353312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194560" y="2980944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084832" y="374904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nombre, apellido, empresa, industria, email, contraseña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22192" y="841248"/>
            <a:ext cx="157276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822192" y="841248"/>
            <a:ext cx="1572768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822192" y="84124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31920" y="1225296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931920" y="1517904"/>
            <a:ext cx="1353312" cy="16459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931920" y="1810512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931920" y="2103120"/>
            <a:ext cx="1353312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3931920" y="2395728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3931920" y="2688336"/>
            <a:ext cx="1353312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931920" y="2980944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822192" y="374904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KPIs + gráfica 6 meses + panel 'Requieren atención'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59552" y="841248"/>
            <a:ext cx="157276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A580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559552" y="841248"/>
            <a:ext cx="1572768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559552" y="84124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0" y="1225296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669280" y="1517904"/>
            <a:ext cx="1353312" cy="16459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5669280" y="1810512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5669280" y="2103120"/>
            <a:ext cx="1353312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5669280" y="2395728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5669280" y="2688336"/>
            <a:ext cx="1353312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5669280" y="2980944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559552" y="374904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paginado · búsqueda · filtro estado · acciones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296912" y="841248"/>
            <a:ext cx="157276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7296912" y="841248"/>
            <a:ext cx="157276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296912" y="84124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06640" y="1225296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7406640" y="1517904"/>
            <a:ext cx="1353312" cy="16459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406640" y="1810512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7406640" y="2103120"/>
            <a:ext cx="1353312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7406640" y="2395728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7406640" y="2688336"/>
            <a:ext cx="1353312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406640" y="2980944"/>
            <a:ext cx="13533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296912" y="374904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completa del cliente · edición inline · eliminar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57200" y="44074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Landing  →  Registro / Login  →  Dashboard  →  Clientes  →  Detalle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1645920" y="4754880"/>
            <a:ext cx="5943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Mapping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223760" y="164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y Planificación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1335024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47472" y="804672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EP-01 · Registro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737360" y="804672"/>
            <a:ext cx="1773936" cy="4206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737360" y="804672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EP-02 · Autenticación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66160" y="804672"/>
            <a:ext cx="3035808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66160" y="804672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EP-03 · Gestión de Clientes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56832" y="804672"/>
            <a:ext cx="1335024" cy="42062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56832" y="804672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EP-04 · Dashboard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804672"/>
            <a:ext cx="1078992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46720" y="80467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EP-05 · Seguridad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0" y="1335024"/>
            <a:ext cx="32918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0" y="1335024"/>
            <a:ext cx="329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371600"/>
            <a:ext cx="603504" cy="45720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84048" y="138988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empresa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042416" y="1371600"/>
            <a:ext cx="621792" cy="45720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60704" y="138988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HU-02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visual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0" y="1938528"/>
            <a:ext cx="329184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0" y="1938528"/>
            <a:ext cx="329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37360" y="1975104"/>
            <a:ext cx="530352" cy="45720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755648" y="1993392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HU-03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340864" y="1975104"/>
            <a:ext cx="621792" cy="45720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359152" y="1993392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HU-04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protegidas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035808" y="1975104"/>
            <a:ext cx="530352" cy="45720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054096" y="1993392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HU-05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0" y="2542032"/>
            <a:ext cx="329184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0" y="2542032"/>
            <a:ext cx="329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39312" y="2578608"/>
            <a:ext cx="566928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657600" y="2596896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HU-06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cliente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279392" y="2578608"/>
            <a:ext cx="566928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297680" y="2596896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HU-07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clientes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0" y="3145536"/>
            <a:ext cx="329184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0" y="3145536"/>
            <a:ext cx="329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19472" y="3182112"/>
            <a:ext cx="566928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937760" y="3200400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HU-08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cliente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550408" y="3182112"/>
            <a:ext cx="566928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568696" y="3200400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HU-09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cliente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0" y="3749040"/>
            <a:ext cx="329184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0" y="3749040"/>
            <a:ext cx="329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90488" y="3785616"/>
            <a:ext cx="566928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208776" y="3803904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HU-10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821424" y="3785616"/>
            <a:ext cx="950976" cy="457200"/>
          </a:xfrm>
          <a:prstGeom prst="rect">
            <a:avLst/>
          </a:prstGeom>
          <a:solidFill>
            <a:srgbClr val="FFEDD5"/>
          </a:solidFill>
          <a:ln w="635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839712" y="380390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HU-11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0" y="4352544"/>
            <a:ext cx="329184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0" y="4352544"/>
            <a:ext cx="329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7472" y="4389120"/>
            <a:ext cx="8412480" cy="45720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11480" y="4389120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S6:  HU-12 Gráfica crecimiento mensual  ·  HU-13 Clientes que requieren atención  ·  HU-14–16 Seguridad (rate limiting, JWT validation, isolación por usuario)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554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 Implementación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Sprints, decisiones técnicas clave y gestión de bugs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33472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Implementación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60920" y="164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 Implementación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411480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8778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por Sprint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36192" y="128016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+ Landing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27248" y="1408176"/>
            <a:ext cx="310896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931920" y="128016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HUs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27248" y="1408176"/>
            <a:ext cx="347472" cy="201168"/>
          </a:xfrm>
          <a:prstGeom prst="rect">
            <a:avLst/>
          </a:prstGeom>
          <a:solidFill>
            <a:srgbClr val="FEF3C7"/>
          </a:solidFill>
          <a:ln w="508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127248" y="140817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1847088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36192" y="184708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Sesión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27248" y="1975104"/>
            <a:ext cx="466344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931920" y="1847088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27248" y="1975104"/>
            <a:ext cx="347472" cy="201168"/>
          </a:xfrm>
          <a:prstGeom prst="rect">
            <a:avLst/>
          </a:prstGeom>
          <a:solidFill>
            <a:srgbClr val="FEF3C7"/>
          </a:solidFill>
          <a:ln w="508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127248" y="19751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241401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36192" y="2414016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clientes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27248" y="2542032"/>
            <a:ext cx="310896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931920" y="241401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HUs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27248" y="2542032"/>
            <a:ext cx="347472" cy="201168"/>
          </a:xfrm>
          <a:prstGeom prst="rect">
            <a:avLst/>
          </a:prstGeom>
          <a:solidFill>
            <a:srgbClr val="FEF3C7"/>
          </a:solidFill>
          <a:ln w="508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127248" y="25420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" y="2980944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36192" y="2980944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+ filtros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27248" y="3108960"/>
            <a:ext cx="621792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931920" y="2980944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HUs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27248" y="3108960"/>
            <a:ext cx="347472" cy="201168"/>
          </a:xfrm>
          <a:prstGeom prst="rect">
            <a:avLst/>
          </a:prstGeom>
          <a:solidFill>
            <a:srgbClr val="FEF3C7"/>
          </a:solidFill>
          <a:ln w="508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127248" y="310896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" y="354787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36192" y="354787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+ KPIs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27248" y="3675888"/>
            <a:ext cx="310896" cy="2011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931920" y="3547872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HUs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411480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536192" y="411480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 + Seguridad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27248" y="4242816"/>
            <a:ext cx="77724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931920" y="411480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HUs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127248" y="4242816"/>
            <a:ext cx="347472" cy="201168"/>
          </a:xfrm>
          <a:prstGeom prst="rect">
            <a:avLst/>
          </a:prstGeom>
          <a:solidFill>
            <a:srgbClr val="FEE2E2"/>
          </a:solidFill>
          <a:ln w="508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127248" y="424281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19B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804672"/>
            <a:ext cx="4087368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828032" y="8778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 Clave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800600" y="1298448"/>
            <a:ext cx="9144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983480" y="1252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sin query por request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8348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JwtStrategy.validate() eliminó la query a BD en cada llamada → reducción de latencia.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0600" y="1993392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983480" y="1947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en dashboard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83480" y="2203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queries separadas reemplazadas por 1 agregación SQL → endpoint /stats/counts.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0600" y="2688336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983480" y="2642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Supavisor Pooler (IPv4)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983480" y="2898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free solo tiene IPv6, Render usa IPv4. Pooler resuelve la incompatibilidad.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00600" y="3383280"/>
            <a:ext cx="914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98348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window.confirm() fijo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983480" y="3593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tests de aceptación espían window.confirm. No reemplazable por modal sin romper tests.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00600" y="4078224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983480" y="4032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userId: nullable en Client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983480" y="42885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 de specs crean Client sin userId. Hacerlo NOT NULL rompe compilación de tests.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554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Refinamiento y Evolución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falta para llevar el MVP a producción real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33472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Refinamiento y Evolución — ¿Qué falta para hacerlo real?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178040" y="16459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Refinamiento y Evolución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411480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84048" y="804672"/>
            <a:ext cx="41148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84048" y="804672"/>
            <a:ext cx="292608" cy="19933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859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5528" y="1280160"/>
            <a:ext cx="7315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50976" y="123444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email al registrarse (magic link o código)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" y="1645920"/>
            <a:ext cx="7315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50976" y="160020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Revocación de tokens JWT (blacklist en Redis)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" y="2011680"/>
            <a:ext cx="7315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50976" y="19659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(autenticación en dos pasos)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5528" y="2377440"/>
            <a:ext cx="7315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50976" y="23317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reposo para datos sensibles (PII)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81728" y="804672"/>
            <a:ext cx="411480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681728" y="804672"/>
            <a:ext cx="41148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681728" y="804672"/>
            <a:ext cx="292608" cy="19933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93208" y="859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93208" y="1280160"/>
            <a:ext cx="7315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248656" y="123444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real (organizaciones con múltiples usuarios)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93208" y="1645920"/>
            <a:ext cx="7315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248656" y="160020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Paginación basada en cursor (no offset) para volúmenes altos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93208" y="2011680"/>
            <a:ext cx="7315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248656" y="19659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con Redis para el dashboard (evitar queries en cada carga)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93208" y="2377440"/>
            <a:ext cx="7315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248656" y="23317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formales con TypeORM Migrations (no synchronize)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4048" y="2907792"/>
            <a:ext cx="411480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84048" y="2907792"/>
            <a:ext cx="4114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84048" y="2907792"/>
            <a:ext cx="292608" cy="19933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95528" y="2962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95528" y="3383280"/>
            <a:ext cx="7315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50976" y="33375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push/email cuando un cliente requiere atención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5528" y="3749040"/>
            <a:ext cx="7315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50976" y="37033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clientes a CSV / Excel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95528" y="4114800"/>
            <a:ext cx="7315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50976" y="40690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interacciones por cliente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95528" y="4480560"/>
            <a:ext cx="7315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50976" y="443484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tareas y seguimiento (pipeline de ventas)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81728" y="2907792"/>
            <a:ext cx="411480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681728" y="2907792"/>
            <a:ext cx="411480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681728" y="2907792"/>
            <a:ext cx="292608" cy="19933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093208" y="2962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/ UX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093208" y="3383280"/>
            <a:ext cx="7315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248656" y="33375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window.confirm() por modal React accesible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93208" y="3749040"/>
            <a:ext cx="7315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248656" y="37033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E2E con Playwright (flujo completo de usuario)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093208" y="4114800"/>
            <a:ext cx="7315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248656" y="40690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 + diseño responsivo para móvil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093208" y="4480560"/>
            <a:ext cx="7315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248656" y="443484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Internacionalización (i18n) para múltiples idiomas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Cloud MVP — Presentación TIC2</dc:title>
  <dc:subject>PptxGenJS Presentation</dc:subject>
  <dc:creator>Equipo CRM Cloud</dc:creator>
  <cp:lastModifiedBy>Equipo CRM Cloud</cp:lastModifiedBy>
  <cp:revision>1</cp:revision>
  <dcterms:created xsi:type="dcterms:W3CDTF">2026-05-14T13:17:57Z</dcterms:created>
  <dcterms:modified xsi:type="dcterms:W3CDTF">2026-05-14T13:17:57Z</dcterms:modified>
</cp:coreProperties>
</file>